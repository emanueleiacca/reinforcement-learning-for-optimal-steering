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8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0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78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8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5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2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14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58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47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92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18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DCC0A-DA8D-4DF1-A621-EBD35952AE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B7CD7-E635-40A9-B79E-5B52FC3C5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545" y="129309"/>
            <a:ext cx="9144000" cy="1256290"/>
          </a:xfrm>
        </p:spPr>
        <p:txBody>
          <a:bodyPr>
            <a:noAutofit/>
          </a:bodyPr>
          <a:lstStyle/>
          <a:p>
            <a:r>
              <a:rPr lang="en-US" sz="4000" b="1" dirty="0"/>
              <a:t>Project 4a — Reinforcement Learning for Optimal Steering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835" y="1206510"/>
            <a:ext cx="10464799" cy="1791999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/>
              <a:t>Task:</a:t>
            </a:r>
            <a:endParaRPr lang="en-US" sz="3600" b="1" dirty="0"/>
          </a:p>
          <a:p>
            <a:pPr algn="just"/>
            <a:r>
              <a:rPr lang="en-US" sz="2000" dirty="0"/>
              <a:t>Learn a </a:t>
            </a:r>
            <a:r>
              <a:rPr lang="en-US" sz="2000" b="1" dirty="0"/>
              <a:t>Reinforcement Learning (RL)</a:t>
            </a:r>
            <a:r>
              <a:rPr lang="en-US" sz="2000" dirty="0"/>
              <a:t> policy to steer latent representations in diffusion or flow-matching models, moving generation toward or away from target concepts (e.g., violence, bias, nudity) without retraining the model.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18833" y="2816506"/>
            <a:ext cx="10464799" cy="1791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b="1" dirty="0"/>
              <a:t>Motivation:</a:t>
            </a:r>
            <a:endParaRPr lang="en-US" sz="2800" b="1" dirty="0"/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Current steering methods are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static, layer-specific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break with multi-concept edits.</a:t>
            </a: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Diffusion models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encode rich latent spaces but lack precise control.</a:t>
            </a: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RL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enables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adaptive, context-aware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steering that balances safety and visual fidelity.</a:t>
            </a:r>
          </a:p>
          <a:p>
            <a:pPr algn="just"/>
            <a:endParaRPr lang="en-US" sz="3200" b="1" dirty="0"/>
          </a:p>
          <a:p>
            <a:pPr algn="just"/>
            <a:endParaRPr lang="en-US" sz="3600" b="1" dirty="0"/>
          </a:p>
          <a:p>
            <a:pPr algn="just"/>
            <a:endParaRPr lang="en-US" sz="3600" b="1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618833" y="4429416"/>
            <a:ext cx="11133613" cy="2308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b="1" dirty="0"/>
              <a:t>Related Work: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Latent/activation steering &amp; patching (linear, non-optimal).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CLIP-based concept directions.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RL for control and decision-making (Proximal Policy Optimization-PPO, Soft Actor-Critic-SAC) used in complex environments.</a:t>
            </a:r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04042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0246" y="171175"/>
            <a:ext cx="9144000" cy="663704"/>
          </a:xfrm>
        </p:spPr>
        <p:txBody>
          <a:bodyPr>
            <a:noAutofit/>
          </a:bodyPr>
          <a:lstStyle/>
          <a:p>
            <a:r>
              <a:rPr lang="en-US" sz="4400" b="1" dirty="0"/>
              <a:t>Models, Tools &amp; Novelty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709942"/>
            <a:ext cx="6811347" cy="3104164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/>
              <a:t>Approach: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sz="2000" dirty="0" err="1"/>
              <a:t>Extract</a:t>
            </a:r>
            <a:r>
              <a:rPr lang="it-IT" sz="2000" dirty="0"/>
              <a:t> multi-</a:t>
            </a:r>
            <a:r>
              <a:rPr lang="it-IT" sz="2000" dirty="0" err="1"/>
              <a:t>layer</a:t>
            </a:r>
            <a:r>
              <a:rPr lang="it-IT" sz="2000" dirty="0"/>
              <a:t> </a:t>
            </a:r>
            <a:r>
              <a:rPr lang="it-IT" sz="2000" dirty="0" err="1"/>
              <a:t>activations</a:t>
            </a:r>
            <a:r>
              <a:rPr lang="it-IT" sz="2000" dirty="0"/>
              <a:t> from </a:t>
            </a:r>
            <a:r>
              <a:rPr lang="it-IT" sz="2000" dirty="0" err="1"/>
              <a:t>diffusion</a:t>
            </a:r>
            <a:r>
              <a:rPr lang="it-IT" sz="2000" dirty="0"/>
              <a:t>/flow models</a:t>
            </a:r>
            <a:r>
              <a:rPr lang="en-US" sz="2000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Train an </a:t>
            </a:r>
            <a:r>
              <a:rPr lang="en-US" sz="2000" b="1" dirty="0"/>
              <a:t>RL </a:t>
            </a:r>
            <a:r>
              <a:rPr lang="it-IT" sz="2000" b="1" dirty="0"/>
              <a:t>steering</a:t>
            </a:r>
            <a:r>
              <a:rPr lang="it-IT" sz="2000" dirty="0"/>
              <a:t> </a:t>
            </a:r>
            <a:r>
              <a:rPr lang="en-US" sz="2000" b="1" dirty="0"/>
              <a:t>policy </a:t>
            </a:r>
            <a:r>
              <a:rPr lang="el-GR" sz="2000" b="1" dirty="0"/>
              <a:t>π(</a:t>
            </a:r>
            <a:r>
              <a:rPr lang="en-US" sz="2000" b="1" dirty="0"/>
              <a:t>a|s)</a:t>
            </a:r>
            <a:r>
              <a:rPr lang="en-US" sz="2000" dirty="0"/>
              <a:t> that </a:t>
            </a:r>
            <a:r>
              <a:rPr lang="it-IT" sz="2000" dirty="0"/>
              <a:t>acts </a:t>
            </a:r>
            <a:r>
              <a:rPr lang="it-IT" sz="2000" dirty="0" err="1"/>
              <a:t>during</a:t>
            </a:r>
            <a:r>
              <a:rPr lang="it-IT" sz="2000" dirty="0"/>
              <a:t> sampling</a:t>
            </a:r>
            <a:r>
              <a:rPr lang="en-US" sz="2000" dirty="0"/>
              <a:t>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1" dirty="0"/>
              <a:t>State</a:t>
            </a:r>
            <a:r>
              <a:rPr lang="en-US" dirty="0"/>
              <a:t>: latent, timestep, layer, prompt embedding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1" dirty="0"/>
              <a:t>Action</a:t>
            </a:r>
            <a:r>
              <a:rPr lang="en-US" dirty="0"/>
              <a:t>: scale steering vectors, adjust cross-attention, apply residual noise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Reward: safe-CLIP ↑, unsafe ↓, safety classifier, fidelity, OT/KL penalty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45233" y="3551589"/>
            <a:ext cx="5473829" cy="2951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dirty="0"/>
              <a:t>Tools: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sz="2000" dirty="0" err="1"/>
              <a:t>PyTorch</a:t>
            </a:r>
            <a:r>
              <a:rPr lang="it-IT" sz="2000" dirty="0"/>
              <a:t>, </a:t>
            </a:r>
            <a:r>
              <a:rPr lang="it-IT" sz="2000" dirty="0" err="1"/>
              <a:t>Diffusers</a:t>
            </a:r>
            <a:endParaRPr lang="it-IT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sz="2000" dirty="0"/>
              <a:t>CLIP + </a:t>
            </a:r>
            <a:r>
              <a:rPr lang="it-IT" sz="2000" dirty="0" err="1"/>
              <a:t>safety</a:t>
            </a:r>
            <a:r>
              <a:rPr lang="it-IT" sz="2000" dirty="0"/>
              <a:t> </a:t>
            </a:r>
            <a:r>
              <a:rPr lang="it-IT" sz="2000" dirty="0" err="1"/>
              <a:t>classifier</a:t>
            </a:r>
            <a:endParaRPr lang="it-IT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sz="2000" dirty="0"/>
              <a:t>PPO/SAC (</a:t>
            </a:r>
            <a:r>
              <a:rPr lang="it-IT" sz="2000" dirty="0" err="1"/>
              <a:t>continuous</a:t>
            </a:r>
            <a:r>
              <a:rPr lang="it-IT" sz="2000" dirty="0"/>
              <a:t> control)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sz="2000" dirty="0" err="1"/>
              <a:t>Optimal</a:t>
            </a:r>
            <a:r>
              <a:rPr lang="it-IT" sz="2000" dirty="0"/>
              <a:t> </a:t>
            </a:r>
            <a:r>
              <a:rPr lang="it-IT" sz="2000" dirty="0" err="1"/>
              <a:t>Transport</a:t>
            </a:r>
            <a:r>
              <a:rPr lang="it-IT" sz="2000" dirty="0"/>
              <a:t> </a:t>
            </a:r>
            <a:r>
              <a:rPr lang="it-IT" sz="2000" dirty="0" err="1"/>
              <a:t>metrics</a:t>
            </a:r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5473828" y="3551589"/>
            <a:ext cx="6718172" cy="2951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/>
              <a:t>Novelty:</a:t>
            </a:r>
            <a:endParaRPr lang="en-US" sz="20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First RL-based </a:t>
            </a:r>
            <a:r>
              <a:rPr lang="en-US" sz="2000" b="1" dirty="0"/>
              <a:t>adaptive</a:t>
            </a:r>
            <a:r>
              <a:rPr lang="en-US" sz="2000" dirty="0"/>
              <a:t>, </a:t>
            </a:r>
            <a:r>
              <a:rPr lang="en-US" sz="2000" b="1" dirty="0"/>
              <a:t>multi-layer</a:t>
            </a:r>
            <a:r>
              <a:rPr lang="en-US" sz="2000" dirty="0"/>
              <a:t> steering without retraining.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Learns </a:t>
            </a:r>
            <a:r>
              <a:rPr lang="en-US" sz="2000" b="1" dirty="0"/>
              <a:t>when/where/how</a:t>
            </a:r>
            <a:r>
              <a:rPr lang="en-US" sz="2000" dirty="0"/>
              <a:t> to intervene.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Identifies most influential layers for safety control.</a:t>
            </a:r>
          </a:p>
          <a:p>
            <a:pPr algn="l"/>
            <a:endParaRPr lang="en-US" sz="2000" dirty="0"/>
          </a:p>
          <a:p>
            <a:pPr algn="l"/>
            <a:endParaRPr lang="en-US" sz="2000" b="1" dirty="0"/>
          </a:p>
          <a:p>
            <a:pPr algn="l"/>
            <a:endParaRPr lang="en-US" sz="2000" b="1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856FEADB-9352-CE7B-50D3-634D9A84B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347" y="1095049"/>
            <a:ext cx="5220429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3003" y="-100536"/>
            <a:ext cx="6245994" cy="1325563"/>
          </a:xfrm>
        </p:spPr>
        <p:txBody>
          <a:bodyPr/>
          <a:lstStyle/>
          <a:p>
            <a:r>
              <a:rPr lang="en-US" b="1" dirty="0"/>
              <a:t>Benchmark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613" y="1008966"/>
            <a:ext cx="12192000" cy="61569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Setup</a:t>
            </a:r>
          </a:p>
          <a:p>
            <a:r>
              <a:rPr lang="en-US" sz="2000" dirty="0"/>
              <a:t>Standard safety benchmarks (I2P, Safe-Variants).</a:t>
            </a:r>
          </a:p>
          <a:p>
            <a:r>
              <a:rPr lang="en-US" sz="2000" dirty="0"/>
              <a:t>Paired prompts: </a:t>
            </a:r>
            <a:r>
              <a:rPr lang="en-US" sz="2000" dirty="0" err="1"/>
              <a:t>unsafe→safe</a:t>
            </a:r>
            <a:r>
              <a:rPr lang="en-US" sz="2000" dirty="0"/>
              <a:t>, </a:t>
            </a:r>
            <a:r>
              <a:rPr lang="en-US" sz="2000" dirty="0" err="1"/>
              <a:t>concept-present→suppressed</a:t>
            </a:r>
            <a:r>
              <a:rPr lang="en-US" sz="2000" dirty="0"/>
              <a:t>.</a:t>
            </a:r>
          </a:p>
          <a:p>
            <a:r>
              <a:rPr lang="en-US" sz="2000" dirty="0"/>
              <a:t>Compare RL steering vs training-free baselines (SAFREE, </a:t>
            </a:r>
            <a:r>
              <a:rPr lang="en-US" sz="2000" dirty="0" err="1"/>
              <a:t>CAStee</a:t>
            </a:r>
            <a:r>
              <a:rPr lang="en-US" sz="2000" dirty="0"/>
              <a:t>).</a:t>
            </a:r>
          </a:p>
          <a:p>
            <a:pPr marL="0" indent="0">
              <a:buNone/>
            </a:pPr>
            <a:r>
              <a:rPr lang="en-US" sz="2000" b="1" dirty="0"/>
              <a:t>Metrics</a:t>
            </a:r>
          </a:p>
          <a:p>
            <a:r>
              <a:rPr lang="en-US" sz="2000" dirty="0"/>
              <a:t>Safety classifier score</a:t>
            </a:r>
          </a:p>
          <a:p>
            <a:r>
              <a:rPr lang="en-US" sz="2000" dirty="0"/>
              <a:t>CLIP safe/unsafe similarity</a:t>
            </a:r>
          </a:p>
          <a:p>
            <a:r>
              <a:rPr lang="en-US" sz="2000" dirty="0"/>
              <a:t>LPIPS </a:t>
            </a:r>
            <a:r>
              <a:rPr lang="en-US" sz="2000" dirty="0" err="1"/>
              <a:t>fidelityOT</a:t>
            </a:r>
            <a:r>
              <a:rPr lang="en-US" sz="2000" dirty="0"/>
              <a:t>/KL latent stability</a:t>
            </a:r>
          </a:p>
          <a:p>
            <a:r>
              <a:rPr lang="en-US" sz="2000" dirty="0"/>
              <a:t>Adversarial/robustness tests</a:t>
            </a:r>
          </a:p>
          <a:p>
            <a:pPr marL="0" indent="0">
              <a:buNone/>
            </a:pPr>
            <a:r>
              <a:rPr lang="en-US" sz="2000" b="1" dirty="0"/>
              <a:t>Expected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Layer-specific, timestep-specific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Stronger, more reliable concept suppression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Better robustness with minimal quality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Clear identification of key steering layers</a:t>
            </a:r>
          </a:p>
          <a:p>
            <a:pPr marL="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0283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174</TotalTime>
  <Words>323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Project 4a — Reinforcement Learning for Optimal Steering</vt:lpstr>
      <vt:lpstr>Models, Tools &amp; Novelty</vt:lpstr>
      <vt:lpstr>Benchmark &amp;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4a — Reinforcement Learning for Optimal Steering</dc:title>
  <dc:creator>MUJATABA</dc:creator>
  <cp:lastModifiedBy>Emanuele Iaccarino</cp:lastModifiedBy>
  <cp:revision>17</cp:revision>
  <dcterms:created xsi:type="dcterms:W3CDTF">2025-11-30T16:43:48Z</dcterms:created>
  <dcterms:modified xsi:type="dcterms:W3CDTF">2025-12-01T11:50:35Z</dcterms:modified>
</cp:coreProperties>
</file>